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7" r:id="rId6"/>
    <p:sldId id="301" r:id="rId7"/>
    <p:sldId id="304" r:id="rId8"/>
    <p:sldId id="303" r:id="rId9"/>
    <p:sldId id="302" r:id="rId10"/>
    <p:sldId id="306" r:id="rId11"/>
    <p:sldId id="305" r:id="rId12"/>
    <p:sldId id="307" r:id="rId13"/>
    <p:sldId id="308" r:id="rId14"/>
    <p:sldId id="309" r:id="rId15"/>
    <p:sldId id="311" r:id="rId16"/>
    <p:sldId id="312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github.com/ritzdeee/IBM-Applied-Data-Science-Capstone-Project/tree/263918aab7e882a1fdb1cc9ba68e7e02be1e67ba/1.%20Data%20Collection" TargetMode="Externa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github.com/ritzdeee/IBM-Applied-Data-Science-Capstone-Project/tree/263918aab7e882a1fdb1cc9ba68e7e02be1e67ba/1.%20Data%20Collection" TargetMode="Externa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/>
          <a:lstStyle/>
          <a:p>
            <a:r>
              <a:rPr lang="en-US" dirty="0"/>
              <a:t>IBM Applied Data Science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/>
          <a:lstStyle/>
          <a:p>
            <a:r>
              <a:rPr lang="en-US" dirty="0"/>
              <a:t>Richard Ho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207645"/>
            <a:ext cx="3171825" cy="1325563"/>
          </a:xfrm>
        </p:spPr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1671782"/>
            <a:ext cx="4568537" cy="4684567"/>
          </a:xfrm>
        </p:spPr>
        <p:txBody>
          <a:bodyPr>
            <a:normAutofit fontScale="77500" lnSpcReduction="20000"/>
          </a:bodyPr>
          <a:lstStyle/>
          <a:p>
            <a:r>
              <a:rPr lang="en-US" sz="1600" b="1" dirty="0"/>
              <a:t>Objective</a:t>
            </a:r>
            <a:r>
              <a:rPr lang="en-US" sz="1600" dirty="0"/>
              <a:t>: Predict Falcon 9 first stage landing success to assess SpaceX’s competitive advantage.</a:t>
            </a:r>
          </a:p>
          <a:p>
            <a:r>
              <a:rPr lang="en-US" sz="1600" b="1" dirty="0"/>
              <a:t>Methods: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collection via SpaceX API and Wikipedia web scraping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wrangling with Pandas </a:t>
            </a:r>
            <a:r>
              <a:rPr lang="en-US" sz="1600" dirty="0" err="1"/>
              <a:t>pipelinesExploratory</a:t>
            </a:r>
            <a:r>
              <a:rPr lang="en-US" sz="1600" dirty="0"/>
              <a:t> Data Analysis (EDA) with Python visualizations and SQL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Interactive dashboards using Folium and </a:t>
            </a:r>
            <a:r>
              <a:rPr lang="en-US" sz="1600" dirty="0" err="1"/>
              <a:t>Plotly</a:t>
            </a:r>
            <a:r>
              <a:rPr lang="en-US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DashPredictive</a:t>
            </a:r>
            <a:r>
              <a:rPr lang="en-US" sz="1600" dirty="0"/>
              <a:t> modeling with Logistic Regression, SVM, KNN, and Decision Trees</a:t>
            </a:r>
          </a:p>
          <a:p>
            <a:r>
              <a:rPr lang="en-US" sz="1600" b="1" dirty="0"/>
              <a:t>Key 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Logistic Regression provided the most balanced accuracy and interpretability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Launch site and payload mass strongly influence landing success</a:t>
            </a:r>
          </a:p>
          <a:p>
            <a:r>
              <a:rPr lang="en-US" sz="1600" b="1" dirty="0" err="1"/>
              <a:t>Insight:Predictive</a:t>
            </a:r>
            <a:r>
              <a:rPr lang="en-US" sz="1600" b="1" dirty="0"/>
              <a:t> analytics can guide cost‑saving strategies and market positioning in commercial space launches.</a:t>
            </a:r>
            <a:endParaRPr lang="en-US" sz="16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2C231-AAEF-955D-6426-6CF7C870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4F810-B663-5861-8B52-63D5D2854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092"/>
            <a:ext cx="5431971" cy="462182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87854-FF94-B68D-AC69-AC7F139688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3FC1B-9A42-4FD4-099D-5A3E960C5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18EF8-8305-E649-0181-499268D7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9A08320-F0E6-7051-92FF-F6CFD321B6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577274"/>
            <a:ext cx="5431971" cy="5703453"/>
          </a:xfrm>
        </p:spPr>
        <p:txBody>
          <a:bodyPr>
            <a:normAutofit lnSpcReduction="10000"/>
          </a:bodyPr>
          <a:lstStyle/>
          <a:p>
            <a:r>
              <a:rPr lang="en-US" b="1" u="sng" dirty="0"/>
              <a:t>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SpaceX revolutionized space travel by reusing Falcon 9 first stages.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Reusability drastically reduces launch costs, making SpaceX highly competitive.</a:t>
            </a:r>
          </a:p>
          <a:p>
            <a:r>
              <a:rPr lang="en-US" b="1" u="sng" dirty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we predict whether the Falcon 9 first stage will successfully land?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Accurate predictions help stakeholders assess SpaceX’s reliability and cost advantage.</a:t>
            </a:r>
          </a:p>
          <a:p>
            <a:r>
              <a:rPr lang="en-US" b="1" u="sng" dirty="0"/>
              <a:t>Business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Commercial launch providers compete on cost and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Predictive insights into landing success can influence investment decisions and market positioning.</a:t>
            </a:r>
          </a:p>
          <a:p>
            <a:r>
              <a:rPr lang="en-US" b="1" u="sng" dirty="0"/>
              <a:t>Project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 launch data via SpaceX API and Wikipedia </a:t>
            </a:r>
            <a:r>
              <a:rPr lang="en-US" dirty="0" err="1"/>
              <a:t>scraping.Clean</a:t>
            </a:r>
            <a:r>
              <a:rPr lang="en-US" dirty="0"/>
              <a:t> and wrangle data for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 EDA with Python visualizations and SQL </a:t>
            </a:r>
            <a:r>
              <a:rPr lang="en-US" dirty="0" err="1"/>
              <a:t>queries.Build</a:t>
            </a:r>
            <a:r>
              <a:rPr lang="en-US" dirty="0"/>
              <a:t> interactive dashboards (Folium, </a:t>
            </a:r>
            <a:r>
              <a:rPr lang="en-US" dirty="0" err="1"/>
              <a:t>Plotly</a:t>
            </a:r>
            <a:r>
              <a:rPr lang="en-US" dirty="0"/>
              <a:t> Dash).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machine learning models to predict landing success.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05073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121BE-C218-55CA-FBC8-6552D8F1B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50D3931-D7B9-C99D-9FD7-176B5229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Data Collection (SpaceX API)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31F3D4-BAD9-3C3C-8F8A-3CE422C672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BBC46-F6E7-BED8-48AC-8F33AF184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9C331-57E2-0C15-9B50-FEECBBB26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3D0A494-1A18-8C20-A0A3-BDDAFD361B79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0" y="1366185"/>
            <a:ext cx="121920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Show how launch data was collected via API calls, using a clear process visualization with SpaceX REST API (https://api.spacexdata.com/v4/launches).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</a:b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Issues</a:t>
            </a:r>
            <a:endParaRPr lang="en-US" altLang="en-US" sz="1600" u="sng" dirty="0">
              <a:solidFill>
                <a:schemeClr val="tx1"/>
              </a:solidFill>
              <a:latin typeface="Tenorite (Body)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Send API Request → </a:t>
            </a:r>
            <a:r>
              <a:rPr kumimoji="0" lang="en-US" altLang="en-US" sz="14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requests.get</a:t>
            </a: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() call to SpaceX API endpoint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Parse JSON Response → Convert to Python dictionary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Normalize Data → Use </a:t>
            </a:r>
            <a:r>
              <a:rPr kumimoji="0" lang="en-US" altLang="en-US" sz="14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json_normalize</a:t>
            </a: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() to flatten nested fields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Extract Key Fields → Launch site, payload mass, orbit, success/failure outcome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Store Data → Save cleaned dataset into Pandas 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DataFrameExport</a:t>
            </a:r>
            <a:r>
              <a:rPr kumimoji="0" lang="en-US" altLang="en-US" sz="14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 → Write to CSV for downstream wrangling and EDA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Notable </a:t>
            </a:r>
            <a:r>
              <a:rPr kumimoji="0" lang="en-US" altLang="en-US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Keyphrases</a:t>
            </a:r>
            <a:endParaRPr kumimoji="0" lang="en-US" altLang="en-US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GitHub Reference: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>
                <a:solidFill>
                  <a:srgbClr val="0070C0"/>
                </a:solidFill>
                <a:latin typeface="Tenorite (Body)"/>
                <a:hlinkClick r:id="rId2"/>
              </a:rPr>
              <a:t>https://github.com/ritzdeee/IBM-Applied-Data-Science-Capstone-Project/tree/263918aab7e882a1fdb1cc9ba68e7e02be1e67ba/1.%20Data%20Collection</a:t>
            </a:r>
            <a:endParaRPr lang="en-US" sz="1600" dirty="0">
              <a:solidFill>
                <a:srgbClr val="0070C0"/>
              </a:solidFill>
              <a:latin typeface="Tenorite (Body)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38D6D2-0303-DEA6-7118-F4480D799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69550"/>
            <a:ext cx="5550324" cy="5712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9E8C15-10E9-D47B-C786-5AEC03E211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0" y="4190936"/>
            <a:ext cx="4906060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22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05C62-B8CC-E0DD-9266-D745827B6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8456AA2-C0F6-CC2A-6DD1-102C9388C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WEB SCRAPING with </a:t>
            </a:r>
            <a:r>
              <a:rPr lang="en-US" dirty="0" err="1"/>
              <a:t>Beautifulsoup</a:t>
            </a:r>
            <a:r>
              <a:rPr lang="en-US" dirty="0"/>
              <a:t> (bs4)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6CBABF-D0F7-6FAF-2BFB-107E1B4D1D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5E2893-A00D-1681-03AD-1D544C2E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DB41D-6231-DCD0-A87D-C4694BB56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28A7530-FD84-2B24-F40B-621742865C36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504763" y="1166134"/>
            <a:ext cx="11687238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Purpose: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Explain how additional launch data was scraped from Wikipedia.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latin typeface="Tenorite (Body)"/>
              </a:rPr>
              <a:t>Data Source:</a:t>
            </a:r>
            <a:r>
              <a:rPr lang="en-US" sz="1600" dirty="0">
                <a:latin typeface="Tenorite (Body)"/>
              </a:rPr>
              <a:t> Wikipedia page on Falcon 9 launches.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latin typeface="Tenorite (Body)"/>
              </a:rPr>
              <a:t>Process Overview (Flowchart / Key Steps):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SG" sz="1400" b="1" dirty="0">
                <a:latin typeface="Tenorite (Body)"/>
              </a:rPr>
              <a:t>Send HTTP Request</a:t>
            </a:r>
            <a:r>
              <a:rPr lang="en-SG" sz="1400" dirty="0">
                <a:latin typeface="Tenorite (Body)"/>
              </a:rPr>
              <a:t> → </a:t>
            </a:r>
            <a:r>
              <a:rPr lang="en-SG" sz="1400" dirty="0" err="1">
                <a:latin typeface="Tenorite (Body)"/>
              </a:rPr>
              <a:t>requests.get</a:t>
            </a:r>
            <a:r>
              <a:rPr lang="en-SG" sz="1400" dirty="0">
                <a:latin typeface="Tenorite (Body)"/>
              </a:rPr>
              <a:t>() to Wikipedia launch list page</a:t>
            </a:r>
            <a:endParaRPr lang="en-US" sz="1400" dirty="0">
              <a:solidFill>
                <a:schemeClr val="tx1"/>
              </a:solidFill>
              <a:latin typeface="Tenorite (Body)"/>
            </a:endParaRP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400" b="1" dirty="0">
                <a:latin typeface="Tenorite (Body)"/>
              </a:rPr>
              <a:t>Parse HTML</a:t>
            </a:r>
            <a:r>
              <a:rPr lang="en-US" sz="1400" dirty="0">
                <a:latin typeface="Tenorite (Body)"/>
              </a:rPr>
              <a:t> → Use </a:t>
            </a:r>
            <a:r>
              <a:rPr lang="en-US" sz="1400" dirty="0" err="1">
                <a:latin typeface="Tenorite (Body)"/>
              </a:rPr>
              <a:t>BeautifulSoup</a:t>
            </a:r>
            <a:r>
              <a:rPr lang="en-US" sz="1400" dirty="0">
                <a:latin typeface="Tenorite (Body)"/>
              </a:rPr>
              <a:t> to extract table elements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400" b="1" dirty="0">
                <a:latin typeface="Tenorite (Body)"/>
              </a:rPr>
              <a:t>Locate Launch Table</a:t>
            </a:r>
            <a:r>
              <a:rPr lang="en-US" sz="1400" dirty="0">
                <a:latin typeface="Tenorite (Body)"/>
              </a:rPr>
              <a:t> → Identify &lt;table&gt; containing launch records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400" b="1" dirty="0">
                <a:latin typeface="Tenorite (Body)"/>
              </a:rPr>
              <a:t>Extract Rows</a:t>
            </a:r>
            <a:r>
              <a:rPr lang="en-US" sz="1400" dirty="0">
                <a:latin typeface="Tenorite (Body)"/>
              </a:rPr>
              <a:t> → Iterate through &lt;tr&gt; elements for payload, date, site, outcome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400" b="1" dirty="0">
                <a:latin typeface="Tenorite (Body)"/>
              </a:rPr>
              <a:t>Clean Data</a:t>
            </a:r>
            <a:r>
              <a:rPr lang="en-US" sz="1400" dirty="0">
                <a:latin typeface="Tenorite (Body)"/>
              </a:rPr>
              <a:t> → Strip whitespace, handle missing values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SG" sz="1400" b="1" dirty="0">
                <a:latin typeface="Tenorite (Body)"/>
              </a:rPr>
              <a:t>Store Data</a:t>
            </a:r>
            <a:r>
              <a:rPr lang="en-SG" sz="1400" dirty="0">
                <a:latin typeface="Tenorite (Body)"/>
              </a:rPr>
              <a:t> → Convert into Pandas </a:t>
            </a:r>
            <a:r>
              <a:rPr lang="en-SG" sz="1400" dirty="0" err="1">
                <a:latin typeface="Tenorite (Body)"/>
              </a:rPr>
              <a:t>DataFrame</a:t>
            </a:r>
            <a:endParaRPr lang="en-SG" sz="1400" dirty="0">
              <a:latin typeface="Tenorite (Body)"/>
            </a:endParaRP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400" b="1" dirty="0">
                <a:latin typeface="Tenorite (Body)"/>
              </a:rPr>
              <a:t>Export</a:t>
            </a:r>
            <a:r>
              <a:rPr lang="en-US" sz="1400" dirty="0">
                <a:latin typeface="Tenorite (Body)"/>
              </a:rPr>
              <a:t> → Save to CSV for wrangling and EDA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SG" sz="1600" b="1" dirty="0"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SG" sz="1600" b="1" dirty="0">
                <a:latin typeface="Tenorite (Body)"/>
              </a:rPr>
              <a:t>Key Phrases from Notebook: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SG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SG" altLang="en-US" sz="20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SG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GitHub Reference: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>
                <a:solidFill>
                  <a:srgbClr val="0070C0"/>
                </a:solidFill>
                <a:latin typeface="Tenorite (Body)"/>
                <a:hlinkClick r:id="rId2"/>
              </a:rPr>
              <a:t>https://github.com/ritzdeee/IBM-Applied-Data-Science-Capstone-Project/tree/263918aab7e882a1fdb1cc9ba68e7e02be1e67ba/1.%20Data%20Collection</a:t>
            </a:r>
            <a:endParaRPr lang="en-US" sz="1400" dirty="0">
              <a:solidFill>
                <a:srgbClr val="0070C0"/>
              </a:solidFill>
              <a:latin typeface="Tenorite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7F3DA7-AFC0-576D-23EC-EA721AF43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63" y="4274085"/>
            <a:ext cx="5267964" cy="118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2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2236C-C7E7-D13D-1D41-976D53DA6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CEB535A-51C8-67FD-826C-709333A4D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Data Wrangling Methodology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18CA5-37BA-80D4-6C53-7A920469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11AED6-2319-BDD5-9015-D24F3F218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CB64C-77BC-2052-AAE1-9653FCF5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A43FDC5-B870-624D-402F-86D419B9460A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572655" y="1181522"/>
            <a:ext cx="11619344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Showing how raw data from API and web scraping was cleaned, transformed, and prepared for analysis.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Issues</a:t>
            </a:r>
            <a:endParaRPr lang="en-US" altLang="en-US" sz="1400" u="sng" dirty="0">
              <a:solidFill>
                <a:schemeClr val="tx1"/>
              </a:solidFill>
              <a:latin typeface="Tenorite (Body)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Missing values (</a:t>
            </a:r>
            <a:r>
              <a:rPr kumimoji="0" lang="en-US" altLang="en-US" sz="1200" b="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NaNs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) in payload mass and outcome fields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Inconsistent data types (strings vs. numeric)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Nested JSON structures requiring flattening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Duplicate records across API and scraped datasets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Process Overview (Flowchart / Key Steps)</a:t>
            </a:r>
            <a:endParaRPr kumimoji="0" lang="en-US" altLang="en-US" sz="14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Load Data → 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pd.read_csv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() from API and scraped 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CSVsHandle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 Missing Values → 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df.fillna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() and 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df.dropna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() for critical fields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Convert Data Types → Explicit 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astype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(float) for payload mass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Normalize Categorical Fields → Encode launch site and orbit using 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pd.get_dummies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()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Merge Datasets → Combine API and scraped data with 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pd.merge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()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Final Dataset → Cleaned 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DataFrame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 ready for EDA and modeling</a:t>
            </a:r>
            <a:endParaRPr lang="en-US" altLang="en-US" sz="1200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Notable </a:t>
            </a:r>
            <a:r>
              <a:rPr kumimoji="0" lang="en-US" altLang="en-US" sz="16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Keyphrases</a:t>
            </a:r>
            <a:endParaRPr kumimoji="0" lang="en-US" altLang="en-US" sz="16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GitHub Reference: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200" dirty="0">
                <a:solidFill>
                  <a:srgbClr val="0070C0"/>
                </a:solidFill>
                <a:latin typeface="Tenorite (Body)"/>
              </a:rPr>
              <a:t>https://github.com/ritzdeee/IBM-Applied-Data-Science-Capstone-Project/tree/263918aab7e882a1fdb1cc9ba68e7e02be1e67ba/2.%20Data%20Wrangling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964E02-082A-980F-79A1-681A6B58C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87" y="4648023"/>
            <a:ext cx="3229426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612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A4FEE-0E8C-609C-6AEE-D6D648AC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0F7212F-DA18-C690-3FDA-2D1E7823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EDA with SQL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4930EA-857C-7050-75B3-CD821BB6A4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88C155-F54C-2667-D4CD-5E68B0F89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8A9D4-096E-4801-0287-96994A92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9F707EC-B1E3-5A3F-2BEB-3E50A7C7E6E6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595088" y="1451535"/>
            <a:ext cx="5334658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Use SQL queries to explore launch data and uncover patterns.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Queries Performed</a:t>
            </a:r>
            <a:endParaRPr lang="en-US" altLang="en-US" sz="1400" u="sng" dirty="0">
              <a:solidFill>
                <a:schemeClr val="tx1"/>
              </a:solidFill>
              <a:latin typeface="Tenorite (Body)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b="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Launch Site Analysis 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→ Count launches per site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b="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Payload Distribution 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→ Average payload mass by orbit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b="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Success Rates 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→ Percentage of successful landings per site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b="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Rankings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 → Identify top-performing launch sites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b="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Timeline Analysis </a:t>
            </a:r>
            <a:r>
              <a:rPr kumimoji="0" lang="en-US" altLang="en-US" sz="1200" b="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→ Success trends across years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Purpose of SQL Analysis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Validate findings from Python visualizations with structured queries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Provide precise counts, averages, and percentages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Enable reproducible, query-driven insights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0E37BD-941B-38BF-6AC9-AA70A4482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9444" y="1451535"/>
            <a:ext cx="533465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b="1" u="sng" dirty="0">
                <a:solidFill>
                  <a:schemeClr val="tx1"/>
                </a:solidFill>
                <a:latin typeface="Tenorite (Body)"/>
              </a:rPr>
              <a:t>Key Findings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KSC LC-39A and CCAFS SLC-40 have higher success frequencies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Payloads in certain orbits (e.g., LEO) show better success rates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Success rates steadily improved after 2013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SQL confirms the same trends observed in Python EDA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b="1" u="sng" dirty="0">
                <a:solidFill>
                  <a:schemeClr val="tx1"/>
                </a:solidFill>
                <a:latin typeface="Tenorite (Body)"/>
              </a:rPr>
              <a:t>Key Phrases from Notebook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"SELECT 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LaunchSite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, COUNT(*) FROM 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spacex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 GROUP BY 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LaunchSite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“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"SELECT Orbit, AVG(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PayloadMass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) FROM 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spacex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 GROUP BY Orbit“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"SELECT Year, SUM(Success)/COUNT(*) FROM 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spacex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 GROUP BY Year"</a:t>
            </a: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EBFCCDD-1078-7C95-1894-87B6BE9FA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088" y="5507200"/>
            <a:ext cx="1112651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Tenorite (Body)"/>
              </a:rPr>
              <a:t>GitHub Reference:</a:t>
            </a:r>
            <a:r>
              <a:rPr lang="en-US" altLang="en-US" sz="1600" dirty="0">
                <a:solidFill>
                  <a:schemeClr val="tx1"/>
                </a:solidFill>
                <a:latin typeface="Tenorite (Body)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200" dirty="0">
                <a:solidFill>
                  <a:srgbClr val="0070C0"/>
                </a:solidFill>
                <a:latin typeface="Tenorite (Body)"/>
              </a:rPr>
              <a:t>https://github.com/ritzdeee/IBM-Applied-Data-Science-Capstone-Project/tree/263918aab7e882a1fdb1cc9ba68e7e02be1e67ba/3.%20EDA%20with%20SQL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458A7B-DBA1-906F-9083-B0CCC7022B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872"/>
          <a:stretch>
            <a:fillRect/>
          </a:stretch>
        </p:blipFill>
        <p:spPr>
          <a:xfrm>
            <a:off x="6339444" y="3476608"/>
            <a:ext cx="2317003" cy="21772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45F113-AC9B-B637-8D1B-5095C65F20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564"/>
          <a:stretch>
            <a:fillRect/>
          </a:stretch>
        </p:blipFill>
        <p:spPr>
          <a:xfrm>
            <a:off x="9066145" y="3919986"/>
            <a:ext cx="2317003" cy="114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919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AEA14-89D7-AA04-56CE-30061F2E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78CC51-D203-CCE1-BA38-2C11A75B8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Interactive Visual Analytics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641D76-F250-489B-146F-DD034C6A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1C7745-5D7A-CF3B-9917-E9B613297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D01B6-FC22-0945-DE04-D4F96145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785EF2A-F133-113D-2417-AEA5DEE9BF9E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595088" y="1374350"/>
            <a:ext cx="533465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Folium Map</a:t>
            </a:r>
            <a:endParaRPr lang="en-US" altLang="en-US" sz="1400" u="sng" dirty="0">
              <a:solidFill>
                <a:schemeClr val="tx1"/>
              </a:solidFill>
              <a:latin typeface="Tenorite (Body)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Plots launch site markers on a world map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Displays launch records with hover tooltips (site name, payload, outcome)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Proximity analysis: distance between launch sites and nearby facilities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Plotly</a:t>
            </a: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 Dash App</a:t>
            </a: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Success Pie Charts → Distribution of successful vs. failed landings by site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Payload vs. Outcome Scatter Plots → Interactive filtering by payload range and site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Dropdown filters for orbit type, launch site, and payload 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massReal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-time updates of charts based on user selections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CA56D0D-53B3-66A2-BA36-CEAFA8902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2254" y="1374350"/>
            <a:ext cx="5334658" cy="227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b="1" u="sng" dirty="0">
                <a:solidFill>
                  <a:schemeClr val="tx1"/>
                </a:solidFill>
                <a:latin typeface="Tenorite (Body)"/>
              </a:rPr>
              <a:t>Purpose of Interactive Tools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Enable stakeholders to explore data dynamically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Provide intuitive visual insights into launch success patterns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Support decision-making with flexible, user-driven analysis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b="1" u="sng" dirty="0">
                <a:solidFill>
                  <a:schemeClr val="tx1"/>
                </a:solidFill>
                <a:latin typeface="Tenorite (Body)"/>
              </a:rPr>
              <a:t>Key Phrases from Notebook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fr-FR" altLang="en-US" sz="1200" dirty="0">
                <a:solidFill>
                  <a:schemeClr val="tx1"/>
                </a:solidFill>
                <a:latin typeface="Tenorite (Body)"/>
              </a:rPr>
              <a:t>"</a:t>
            </a:r>
            <a:r>
              <a:rPr lang="fr-FR" altLang="en-US" sz="1200" dirty="0" err="1">
                <a:solidFill>
                  <a:schemeClr val="tx1"/>
                </a:solidFill>
                <a:latin typeface="Tenorite (Body)"/>
              </a:rPr>
              <a:t>folium.Marker</a:t>
            </a:r>
            <a:r>
              <a:rPr lang="fr-FR" altLang="en-US" sz="1200" dirty="0">
                <a:solidFill>
                  <a:schemeClr val="tx1"/>
                </a:solidFill>
                <a:latin typeface="Tenorite (Body)"/>
              </a:rPr>
              <a:t>(location=[</a:t>
            </a:r>
            <a:r>
              <a:rPr lang="fr-FR" altLang="en-US" sz="1200" dirty="0" err="1">
                <a:solidFill>
                  <a:schemeClr val="tx1"/>
                </a:solidFill>
                <a:latin typeface="Tenorite (Body)"/>
              </a:rPr>
              <a:t>lat</a:t>
            </a:r>
            <a:r>
              <a:rPr lang="fr-FR" altLang="en-US" sz="1200" dirty="0">
                <a:solidFill>
                  <a:schemeClr val="tx1"/>
                </a:solidFill>
                <a:latin typeface="Tenorite (Body)"/>
              </a:rPr>
              <a:t>, </a:t>
            </a:r>
            <a:r>
              <a:rPr lang="fr-FR" altLang="en-US" sz="1200" dirty="0" err="1">
                <a:solidFill>
                  <a:schemeClr val="tx1"/>
                </a:solidFill>
                <a:latin typeface="Tenorite (Body)"/>
              </a:rPr>
              <a:t>lon</a:t>
            </a:r>
            <a:r>
              <a:rPr lang="fr-FR" altLang="en-US" sz="1200" dirty="0">
                <a:solidFill>
                  <a:schemeClr val="tx1"/>
                </a:solidFill>
                <a:latin typeface="Tenorite (Body)"/>
              </a:rPr>
              <a:t>], popup=site)« 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dcc.Dropdown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(options=[...], multi=True)“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px.scatter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(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df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, x='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PayloadMass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', y='Outcome', color='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LaunchSite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')"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46B7216-63DF-E4CF-29CA-93DCD4D66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088" y="5414867"/>
            <a:ext cx="1112651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Tenorite (Body)"/>
              </a:rPr>
              <a:t>GitHub Reference:</a:t>
            </a:r>
            <a:r>
              <a:rPr lang="en-US" altLang="en-US" sz="1600" dirty="0">
                <a:solidFill>
                  <a:schemeClr val="tx1"/>
                </a:solidFill>
                <a:latin typeface="Tenorite (Body)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200" dirty="0">
                <a:solidFill>
                  <a:srgbClr val="0070C0"/>
                </a:solidFill>
                <a:latin typeface="Tenorite (Body)"/>
              </a:rPr>
              <a:t>https://github.com/ritzdeee/IBM-Applied-Data-Science-Capstone-Project/tree/263918aab7e882a1fdb1cc9ba68e7e02be1e67ba/5.%20Interactive%20Visual%20Dashboarding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3525B4-7C00-6A7C-71F9-82F943C2E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88" y="3580502"/>
            <a:ext cx="3120277" cy="19031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E82DCA-49D3-0FBA-462B-725A87DF7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412" y="3464409"/>
            <a:ext cx="2743200" cy="288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65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96440-055E-9604-0396-75D1D1DA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66ADA58-02E2-A50A-8016-99DF7882B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EDA Visualization Results</a:t>
            </a:r>
            <a:br>
              <a:rPr lang="en-US" dirty="0"/>
            </a:br>
            <a:r>
              <a:rPr lang="en-US" sz="1400" dirty="0" err="1"/>
              <a:t>visualizating</a:t>
            </a:r>
            <a:r>
              <a:rPr lang="en-US" sz="1400" dirty="0"/>
              <a:t> outputs from exploratory analysis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FD9C8F-771D-1E8D-FC6D-76F2ED4BAE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EB7CE4-F4B5-8A6B-2938-70B66D2C5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6733F-CDAE-5D31-6688-540ACDBD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3ED0159-C5DE-D278-28E4-516A1F68A3F1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684484" y="1451535"/>
            <a:ext cx="533465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Scatter Plots</a:t>
            </a:r>
            <a:endParaRPr lang="en-US" altLang="en-US" sz="1600" b="1" u="sng" dirty="0">
              <a:solidFill>
                <a:schemeClr val="tx1"/>
              </a:solidFill>
              <a:latin typeface="Tenorite (Body)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Payload mass vs. landing outcome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400" b="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Shows correlation: lighter payloads → higher success probability</a:t>
            </a:r>
            <a:endParaRPr lang="en-US" altLang="en-US" sz="1400" i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Bar Charts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Success rates by launch site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Highlights site performance differences (KSC LC-39A consistently strong)</a:t>
            </a:r>
            <a:endParaRPr lang="en-US" altLang="en-US" sz="16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u="sng" dirty="0">
                <a:solidFill>
                  <a:schemeClr val="tx1"/>
                </a:solidFill>
                <a:latin typeface="Tenorite (Body)"/>
              </a:rPr>
              <a:t>Yearly Trends (Line/Bar Charts)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Success rate progression across years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Clear upward trend in reliability since 2013</a:t>
            </a: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8542974-4F8F-314D-E045-151F026B8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9444" y="1651589"/>
            <a:ext cx="5334658" cy="227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b="1" u="sng" dirty="0">
                <a:solidFill>
                  <a:schemeClr val="tx1"/>
                </a:solidFill>
                <a:latin typeface="Tenorite (Body)"/>
              </a:rPr>
              <a:t>Key Findings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Payload mass and launch site are critical predictors of success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SpaceX’s success rate has steadily improved over time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Visual evidence supports the hypothesis that reusability drives reliability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b="1" u="sng" dirty="0">
                <a:solidFill>
                  <a:schemeClr val="tx1"/>
                </a:solidFill>
                <a:latin typeface="Tenorite (Body)"/>
              </a:rPr>
              <a:t>Key Phrases from Notebook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plt.scatter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(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df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['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PayloadMass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'], 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df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['Outcome’])”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df.groupby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('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LaunchSite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')['Outcome'].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value_counts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().plot(kind='bar’)”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df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['Year'].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value_counts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().plot(kind='line')"</a:t>
            </a: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0987EA-1CC8-EB39-2293-6A8E9DB64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5076623"/>
            <a:ext cx="7291447" cy="14162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0771F9F-5AFB-EEB7-D09D-DBC5073D1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923" y="4532159"/>
            <a:ext cx="2569375" cy="19607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A1F762-4F0F-8757-AEED-084DB4C48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4596" y="3443207"/>
            <a:ext cx="2055451" cy="15598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2428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F0919-64EE-C13D-99D7-4CCBF0A9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361B4E2-E569-46E7-8E7A-A73503C23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EDA with SQL Results</a:t>
            </a:r>
            <a:endParaRPr lang="en-US" sz="1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0236E4-56D4-18BA-4FE1-BD6F1BA1CC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67BEA-75ED-3AC3-D4B8-9464F192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B6677-0096-66A5-AA09-4E1530D6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D23A88F-1A13-920B-A888-FC6BEB72F8EF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684484" y="1550829"/>
            <a:ext cx="533465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Launch Site Analysis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Query: SELECT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LaunchSite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, COUNT(*) FROM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spacex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 GROUP BY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LaunchSite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Result: KSC LC-39A and CCAFS SLC-40 show the highest number of launches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Payload Distribution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Query: SELECT Orbit, AVG(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PayloadMass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) FROM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spacex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 GROUP BY Orbit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Result: LEO payloads average lower mass, correlating with higher success rates.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u="sng" dirty="0">
                <a:solidFill>
                  <a:schemeClr val="tx1"/>
                </a:solidFill>
                <a:latin typeface="Tenorite (Body)"/>
              </a:rPr>
              <a:t>Success Rates by Site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Query: SELECT </a:t>
            </a:r>
            <a:r>
              <a:rPr lang="en-US" altLang="en-US" sz="1400" dirty="0" err="1">
                <a:solidFill>
                  <a:schemeClr val="tx1"/>
                </a:solidFill>
                <a:latin typeface="Tenorite (Body)"/>
              </a:rPr>
              <a:t>LaunchSite</a:t>
            </a: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, SUM(Success)/COUNT(*) FROM </a:t>
            </a:r>
            <a:r>
              <a:rPr lang="en-US" altLang="en-US" sz="1400" dirty="0" err="1">
                <a:solidFill>
                  <a:schemeClr val="tx1"/>
                </a:solidFill>
                <a:latin typeface="Tenorite (Body)"/>
              </a:rPr>
              <a:t>spacex</a:t>
            </a: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 GROUP BY </a:t>
            </a:r>
            <a:r>
              <a:rPr lang="en-US" altLang="en-US" sz="1400" dirty="0" err="1">
                <a:solidFill>
                  <a:schemeClr val="tx1"/>
                </a:solidFill>
                <a:latin typeface="Tenorite (Body)"/>
              </a:rPr>
              <a:t>LaunchSite</a:t>
            </a:r>
            <a:endParaRPr lang="en-US" altLang="en-US" sz="1400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Result: KSC LC-39A has the highest success percentage.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u="sng" dirty="0">
                <a:solidFill>
                  <a:schemeClr val="tx1"/>
                </a:solidFill>
                <a:latin typeface="Tenorite (Body)"/>
              </a:rPr>
              <a:t>Rankings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Query: SELECT </a:t>
            </a:r>
            <a:r>
              <a:rPr lang="en-US" altLang="en-US" sz="1400" dirty="0" err="1">
                <a:solidFill>
                  <a:schemeClr val="tx1"/>
                </a:solidFill>
                <a:latin typeface="Tenorite (Body)"/>
              </a:rPr>
              <a:t>LaunchSite</a:t>
            </a: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, COUNT(Success) AS </a:t>
            </a:r>
            <a:r>
              <a:rPr lang="en-US" altLang="en-US" sz="1400" dirty="0" err="1">
                <a:solidFill>
                  <a:schemeClr val="tx1"/>
                </a:solidFill>
                <a:latin typeface="Tenorite (Body)"/>
              </a:rPr>
              <a:t>SuccessfulLandings</a:t>
            </a: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 FROM </a:t>
            </a:r>
            <a:r>
              <a:rPr lang="en-US" altLang="en-US" sz="1400" dirty="0" err="1">
                <a:solidFill>
                  <a:schemeClr val="tx1"/>
                </a:solidFill>
                <a:latin typeface="Tenorite (Body)"/>
              </a:rPr>
              <a:t>spacex</a:t>
            </a: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 GROUP BY </a:t>
            </a:r>
            <a:r>
              <a:rPr lang="en-US" altLang="en-US" sz="1400" dirty="0" err="1">
                <a:solidFill>
                  <a:schemeClr val="tx1"/>
                </a:solidFill>
                <a:latin typeface="Tenorite (Body)"/>
              </a:rPr>
              <a:t>LaunchSite</a:t>
            </a: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 ORDER BY </a:t>
            </a:r>
            <a:r>
              <a:rPr lang="en-US" altLang="en-US" sz="1400" dirty="0" err="1">
                <a:solidFill>
                  <a:schemeClr val="tx1"/>
                </a:solidFill>
                <a:latin typeface="Tenorite (Body)"/>
              </a:rPr>
              <a:t>SuccessfulLandings</a:t>
            </a: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 DESC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Result: Ranked list confirms LC-39A as top-performing site.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3D13832-0879-30A4-4F32-D68FE882F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394530"/>
            <a:ext cx="533465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b="1" u="sng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u="sng" dirty="0">
                <a:solidFill>
                  <a:schemeClr val="tx1"/>
                </a:solidFill>
                <a:latin typeface="Tenorite (Body)"/>
              </a:rPr>
              <a:t>Timeline Analysis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Query: SELECT Year, SUM(Success)/COUNT(*) FROM </a:t>
            </a:r>
            <a:r>
              <a:rPr lang="en-US" altLang="en-US" sz="1400" dirty="0" err="1">
                <a:solidFill>
                  <a:schemeClr val="tx1"/>
                </a:solidFill>
                <a:latin typeface="Tenorite (Body)"/>
              </a:rPr>
              <a:t>spacex</a:t>
            </a: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 GROUP BY Year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chemeClr val="tx1"/>
                </a:solidFill>
                <a:latin typeface="Tenorite (Body)"/>
              </a:rPr>
              <a:t>Result: Success rates steadily improved after 2013, reaching &gt;90% in recent years.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u="sng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b="1" u="sng" dirty="0">
                <a:solidFill>
                  <a:schemeClr val="tx1"/>
                </a:solidFill>
                <a:latin typeface="Tenorite (Body)"/>
              </a:rPr>
              <a:t>Key Findings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SQL confirms payload mass and launch site as critical predictors.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Structured queries validate trends observed in Python visualizations.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Timeline analysis highlights SpaceX’s growing reliability.</a:t>
            </a: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400" b="1" dirty="0">
              <a:solidFill>
                <a:schemeClr val="tx1"/>
              </a:solidFill>
              <a:latin typeface="Tenorite (Body)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D8BD01-15E6-F27F-134E-6A92160C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858" y="3838072"/>
            <a:ext cx="5334658" cy="8866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416922-4C9E-82BC-E930-F6D8FB678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678" y="4848622"/>
            <a:ext cx="5334657" cy="152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51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6ADEC-F5FE-8ADF-801F-05AFE71F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D7DF6CC-78A9-0089-84B8-8FFD5DAC5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Folium Map Results</a:t>
            </a:r>
            <a:endParaRPr lang="en-US" sz="1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09A4A5-67F9-64AD-4098-2BE066FBE2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7B5D53-C891-9615-B273-919ACD612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878D6-22C5-F0E3-AC55-409A2F111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102BC41-8442-D9C7-5CCA-E18A342272FE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601357" y="1702306"/>
            <a:ext cx="533465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Launch Site Markers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Each launch site plotted on a Folium map with latitude/longitude coordinates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Popups display site name, payload, and launch outcome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Launch Records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Interactive markers allow exploration of individual launch details.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Provides spatial perspective on where launches occur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2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Proximity Analysis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Calculated distances between launch sites and nearby facilities (e.g., airports, coastlines).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Helps assess logistical advantages of site locations</a:t>
            </a:r>
            <a:endParaRPr lang="en-US" altLang="en-US" sz="1200" dirty="0">
              <a:solidFill>
                <a:schemeClr val="tx1"/>
              </a:solidFill>
              <a:latin typeface="Tenorite (Body)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2CEFB2F-C780-85A6-F106-FA42F4067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57" y="4281415"/>
            <a:ext cx="533465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b="1" u="sng" dirty="0">
                <a:solidFill>
                  <a:schemeClr val="tx1"/>
                </a:solidFill>
                <a:latin typeface="Tenorite (Body)"/>
              </a:rPr>
              <a:t>Key Phrases from Notebook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folium.Map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(location=[28.5, -80.5], 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zoom_start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=5)“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folium.Marker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([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lat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, 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lon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], popup=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site_name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)“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folium.CircleMarker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(..., radius=5, color='blue')""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geopy.distance.distance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(site, facility).km“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b="1" u="sng" dirty="0">
                <a:solidFill>
                  <a:schemeClr val="tx1"/>
                </a:solidFill>
                <a:latin typeface="Tenorite (Body)"/>
              </a:rPr>
              <a:t>Key Findings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Launch sites are strategically located near coastlines for safety.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Proximity to infrastructure supports operational efficiency.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Folium maps provide intuitive geographic insights beyond tabular data.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19233D-B867-5272-18F6-BE0EB7E26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766" y="1690688"/>
            <a:ext cx="5653877" cy="236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06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1CFB7-752F-CCBA-4BB3-768B6C454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3DEF239-C653-4DEE-760D-D419C5DFB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SG" dirty="0"/>
              <a:t>Predictive Analysis Results</a:t>
            </a:r>
            <a:endParaRPr lang="en-US" sz="1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291F8C-CD91-76B2-7D25-917FC201A0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152BFF-6527-F654-D048-C7CBF6BD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073C8-7222-F637-C862-6E501330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4EEADBA-0ADA-5392-71AF-496AD33858C6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601356" y="1413301"/>
            <a:ext cx="5334658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Models Applied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Logistic Regression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Support Vector Machine (SVM)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K-Nearest Neighbors (KNN)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Decision Tree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2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Evaluation Metrics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Accuracy scores across models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Confusion matrices for classification performance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Precision, recall, and F1-score comparisons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2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Results</a:t>
            </a:r>
            <a:endParaRPr lang="en-US" altLang="en-US" sz="1400" b="1" u="sng" dirty="0">
              <a:solidFill>
                <a:schemeClr val="tx1"/>
              </a:solidFill>
              <a:latin typeface="Tenorite (Body)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Logistic Regression achieved balanced accuracy and interpretability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SVM performed well but required more tuning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KNN showed moderate accuracy, sensitive to parameter choice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Decision Tree provided clear rules but risked overfitting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2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Best Model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Logistic Regression selected as optimal model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Offers strong predictive accuracy with explainable coefficients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Confirms payload mass and launch site as key predictors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376392DE-BB41-1A46-B02D-30CAE9FF9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5988" y="1413301"/>
            <a:ext cx="5334658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b="1" u="sng" dirty="0">
                <a:solidFill>
                  <a:schemeClr val="tx1"/>
                </a:solidFill>
                <a:latin typeface="Tenorite (Body)"/>
              </a:rPr>
              <a:t>Conclusion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Predictive modeling validates EDA findings: payload and site drive success probability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Models demonstrate SpaceX’s increasing reliability over time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Insights can guide competitive strategy and cost-saving decisions in commercial launches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400" b="1" u="sng" dirty="0">
                <a:solidFill>
                  <a:schemeClr val="tx1"/>
                </a:solidFill>
                <a:latin typeface="Tenorite (Body)"/>
              </a:rPr>
              <a:t>Key Phrases from Notebook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LogisticRegression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().fit(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X_train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, 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y_train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)“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confusion_matrix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(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y_test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, 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y_pred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)“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classification_report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(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y_test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, 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y_pred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)“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"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classification_report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(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y_test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, </a:t>
            </a:r>
            <a:r>
              <a:rPr lang="en-US" altLang="en-US" sz="1200" dirty="0" err="1">
                <a:solidFill>
                  <a:schemeClr val="tx1"/>
                </a:solidFill>
                <a:latin typeface="Tenorite (Body)"/>
              </a:rPr>
              <a:t>y_pred</a:t>
            </a: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)"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F890305-6C56-AAC1-8AEE-68485DFA3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079" y="3837208"/>
            <a:ext cx="3626921" cy="2655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39214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4D30E-6A7E-AA33-C169-BC280EACF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5ABF579-3CBF-C036-5E90-47DA8921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 &amp; Insights</a:t>
            </a:r>
            <a:endParaRPr lang="en-US" sz="1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F8D22-5984-EA91-AFCE-D1544540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F2109-CAE6-53CE-752A-E23AE16D9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E019F-0F55-E60C-31A1-B7A7318AD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BECAA54-7FC1-DE51-90B9-A29C2909D3E6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601357" y="1625362"/>
            <a:ext cx="5334658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Project Outcomes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Successfully collected and integrated SpaceX launch data via API and web scraping.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Cleaned and wrangled data into a reliable dataset.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Conducted EDA with Python visualizations and SQL queries to uncover trends.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Built interactive dashboards (Folium, </a:t>
            </a:r>
            <a:r>
              <a:rPr kumimoji="0" lang="en-US" altLang="en-US" sz="1200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Plotly</a:t>
            </a: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 Dash) for dynamic exploration.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Applied multiple machine learning models to predict landing success.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2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Key Results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Logistic Regression identified as the best-performing model.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Payload mass and launch site are the strongest predictors of success.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norite (Body)"/>
              </a:rPr>
              <a:t>Success rates have steadily improved since 2013, confirming SpaceX’s growing reliability.</a:t>
            </a:r>
            <a:endParaRPr lang="en-US" altLang="en-US" sz="1100" dirty="0">
              <a:solidFill>
                <a:schemeClr val="tx1"/>
              </a:solidFill>
              <a:latin typeface="Tenorite (Body)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260AE2B-B31D-CE39-CF09-DDAD57D33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620977"/>
            <a:ext cx="5334658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b="1" u="sng" dirty="0">
                <a:solidFill>
                  <a:schemeClr val="tx1"/>
                </a:solidFill>
                <a:latin typeface="Tenorite (Body)"/>
              </a:rPr>
              <a:t>Creative &amp; Innovative Insights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Combining geospatial analysis (Folium) with predictive modeling provides a holistic view of launch success.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Interactive dashboards empower stakeholders to explore data intuitively.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Predictive analytics can guide strategic decisions in commercial spaceflight, reducing costs and improving competitiveness.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200" b="1" u="sng" dirty="0">
              <a:solidFill>
                <a:schemeClr val="tx1"/>
              </a:solidFill>
              <a:latin typeface="Tenorite (Body)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200" b="1" u="sng" dirty="0">
                <a:solidFill>
                  <a:schemeClr val="tx1"/>
                </a:solidFill>
                <a:latin typeface="Tenorite (Body)"/>
              </a:rPr>
              <a:t>Final Takeaway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Data-driven insights confirm SpaceX’s reusability strategy is effective.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Predictive modeling offers a powerful tool for forecasting future launch outcomes.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tx1"/>
                </a:solidFill>
                <a:latin typeface="Tenorite (Body)"/>
              </a:rPr>
              <a:t>The project demonstrates how applied data science can bridge technical analysis with real-world business impact.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71F961-A448-B06B-5C68-290CA0BB7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692" y="4173290"/>
            <a:ext cx="4387273" cy="239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89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/>
          <a:p>
            <a:r>
              <a:rPr lang="en-US" dirty="0"/>
              <a:t>Richard Ho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{EB33756A-96BD-4E7C-8E64-BB1798019F81}TF1ed81438-95a7-4ae9-841d-43ea2c64f7fc8ae7ff09_win32-aa52a5bb69e3</Template>
  <TotalTime>425</TotalTime>
  <Words>1953</Words>
  <Application>Microsoft Office PowerPoint</Application>
  <PresentationFormat>Widescreen</PresentationFormat>
  <Paragraphs>302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Tenorite (Body)</vt:lpstr>
      <vt:lpstr>Arial</vt:lpstr>
      <vt:lpstr>Calibri</vt:lpstr>
      <vt:lpstr>Tenorite</vt:lpstr>
      <vt:lpstr>Monoline</vt:lpstr>
      <vt:lpstr>IBM Applied Data Science Project</vt:lpstr>
      <vt:lpstr>Executive summary</vt:lpstr>
      <vt:lpstr>Introduction</vt:lpstr>
      <vt:lpstr>Data Collection (SpaceX API)</vt:lpstr>
      <vt:lpstr>WEB SCRAPING with Beautifulsoup (bs4)</vt:lpstr>
      <vt:lpstr>Data Wrangling Methodology</vt:lpstr>
      <vt:lpstr>EDA with SQL</vt:lpstr>
      <vt:lpstr>Interactive Visual Analytics</vt:lpstr>
      <vt:lpstr>EDA Visualization Results visualizating outputs from exploratory analysis</vt:lpstr>
      <vt:lpstr>EDA with SQL Results</vt:lpstr>
      <vt:lpstr>Folium Map Results</vt:lpstr>
      <vt:lpstr>Predictive Analysis Results</vt:lpstr>
      <vt:lpstr>Conclusion &amp; Insights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Ho</dc:creator>
  <cp:lastModifiedBy>Richard Ho</cp:lastModifiedBy>
  <cp:revision>53</cp:revision>
  <dcterms:created xsi:type="dcterms:W3CDTF">2026-02-13T02:54:24Z</dcterms:created>
  <dcterms:modified xsi:type="dcterms:W3CDTF">2026-02-13T09:59:38Z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